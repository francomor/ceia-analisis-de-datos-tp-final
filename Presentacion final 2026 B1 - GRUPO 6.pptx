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70" r:id="rId20"/>
    <p:sldId id="271" r:id="rId21"/>
    <p:sldId id="272" r:id="rId22"/>
    <p:sldId id="273" r:id="rId23"/>
    <p:sldId id="274" r:id="rId24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adb6d3919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adb6d3919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974d919bf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974d919bf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655e8180b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g3655e8180b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85f7747de7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g385f7747de7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85f7747de7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g385f7747de7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85f7747de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385f7747de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5f7747de7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g385f7747de7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85f7747de7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g385f7747de7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85f7747de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g385f7747de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73065a3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973065a3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973065a3d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973065a3d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73065a3d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973065a3d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973065a3d0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3973065a3d0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Title Slide">
  <p:cSld name="5_Title Slide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Slide">
  <p:cSld name="3_Title Slid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746388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0999" y="435150"/>
            <a:ext cx="5411775" cy="437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1</a:t>
            </a:r>
            <a:endParaRPr/>
          </a:p>
        </p:txBody>
      </p:sp>
      <p:sp>
        <p:nvSpPr>
          <p:cNvPr id="67" name="Google Shape;67;p17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7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2</a:t>
            </a:r>
            <a:endParaRPr/>
          </a:p>
        </p:txBody>
      </p:sp>
      <p:sp>
        <p:nvSpPr>
          <p:cNvPr id="74" name="Google Shape;74;p18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8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9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3</a:t>
            </a:r>
            <a:endParaRPr/>
          </a:p>
        </p:txBody>
      </p:sp>
      <p:sp>
        <p:nvSpPr>
          <p:cNvPr id="81" name="Google Shape;81;p19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9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4</a:t>
            </a:r>
            <a:endParaRPr/>
          </a:p>
        </p:txBody>
      </p:sp>
      <p:sp>
        <p:nvSpPr>
          <p:cNvPr id="88" name="Google Shape;88;p20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0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1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5</a:t>
            </a:r>
            <a:endParaRPr/>
          </a:p>
        </p:txBody>
      </p:sp>
      <p:sp>
        <p:nvSpPr>
          <p:cNvPr id="95" name="Google Shape;95;p21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1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7</a:t>
            </a:r>
            <a:endParaRPr/>
          </a:p>
        </p:txBody>
      </p:sp>
      <p:sp>
        <p:nvSpPr>
          <p:cNvPr id="109" name="Google Shape;109;p23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3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8</a:t>
            </a:r>
            <a:endParaRPr/>
          </a:p>
        </p:txBody>
      </p:sp>
      <p:sp>
        <p:nvSpPr>
          <p:cNvPr id="116" name="Google Shape;116;p24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4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5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9</a:t>
            </a:r>
            <a:endParaRPr/>
          </a:p>
        </p:txBody>
      </p:sp>
      <p:sp>
        <p:nvSpPr>
          <p:cNvPr id="123" name="Google Shape;123;p25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5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10</a:t>
            </a:r>
            <a:endParaRPr/>
          </a:p>
        </p:txBody>
      </p:sp>
      <p:sp>
        <p:nvSpPr>
          <p:cNvPr id="130" name="Google Shape;130;p26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6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11</a:t>
            </a:r>
            <a:endParaRPr/>
          </a:p>
        </p:txBody>
      </p:sp>
      <p:sp>
        <p:nvSpPr>
          <p:cNvPr id="137" name="Google Shape;137;p27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7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/>
          <p:nvPr>
            <p:ph idx="1" type="subTitle"/>
          </p:nvPr>
        </p:nvSpPr>
        <p:spPr>
          <a:xfrm>
            <a:off x="311700" y="15728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/>
              <a:t>GRUPO 12</a:t>
            </a:r>
            <a:endParaRPr/>
          </a:p>
        </p:txBody>
      </p:sp>
      <p:sp>
        <p:nvSpPr>
          <p:cNvPr id="144" name="Google Shape;144;p28"/>
          <p:cNvSpPr txBox="1"/>
          <p:nvPr/>
        </p:nvSpPr>
        <p:spPr>
          <a:xfrm>
            <a:off x="2308575" y="2333525"/>
            <a:ext cx="43377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ALUMNOS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TEMA</a:t>
            </a:r>
            <a:endParaRPr b="0" i="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8"/>
          <p:cNvSpPr/>
          <p:nvPr/>
        </p:nvSpPr>
        <p:spPr>
          <a:xfrm>
            <a:off x="6428975" y="503925"/>
            <a:ext cx="2200500" cy="1114200"/>
          </a:xfrm>
          <a:prstGeom prst="wedgeRectCallout">
            <a:avLst>
              <a:gd fmla="val -84710" name="adj1"/>
              <a:gd fmla="val 70124" name="adj2"/>
            </a:avLst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REEMPLAZAR ESTA SLIDE POR LA</a:t>
            </a:r>
            <a:r>
              <a:rPr lang="es"/>
              <a:t>S</a:t>
            </a:r>
            <a:r>
              <a:rPr b="0" i="0" lang="e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PROPIAS DEL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2800" b="1">
                <a:solidFill>
                  <a:srgbClr val="1F4E79"/>
                </a:solidFill>
                <a:latin typeface="Calibri"/>
              </a:rPr>
              <a:t>Análisis de Crímenes Reportados en Chicago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400" b="0">
                <a:solidFill>
                  <a:srgbClr val="6B7280"/>
                </a:solidFill>
                <a:latin typeface="Calibri"/>
              </a:rPr>
              <a:t>Grupo 6 — Análisis de Datos · CEIA · 1B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300" b="1">
                <a:solidFill>
                  <a:srgbClr val="C00000"/>
                </a:solidFill>
                <a:latin typeface="Calibri"/>
              </a:rPr>
              <a:t>Integrantes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420624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0">
                <a:solidFill>
                  <a:srgbClr val="1F2937"/>
                </a:solidFill>
                <a:latin typeface="Calibri"/>
              </a:rPr>
              <a:t>• Ayelén Calo (a2510)</a:t>
            </a:r>
          </a:p>
          <a:p>
            <a:pPr/>
            <a:r>
              <a:rPr sz="1200" b="0">
                <a:solidFill>
                  <a:srgbClr val="1F2937"/>
                </a:solidFill>
                <a:latin typeface="Calibri"/>
              </a:rPr>
              <a:t>• Agustín Daniel Ross (a2539)</a:t>
            </a:r>
          </a:p>
          <a:p>
            <a:pPr/>
            <a:r>
              <a:rPr sz="1200" b="0">
                <a:solidFill>
                  <a:srgbClr val="1F2937"/>
                </a:solidFill>
                <a:latin typeface="Calibri"/>
              </a:rPr>
              <a:t>• Francisco Valentín Meaca (a2530)</a:t>
            </a:r>
          </a:p>
          <a:p>
            <a:pPr/>
            <a:r>
              <a:rPr sz="1200" b="0">
                <a:solidFill>
                  <a:srgbClr val="1F2937"/>
                </a:solidFill>
                <a:latin typeface="Calibri"/>
              </a:rPr>
              <a:t>• Franco Marcelo Morero (a2533)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300" b="1">
                <a:solidFill>
                  <a:srgbClr val="C00000"/>
                </a:solidFill>
                <a:latin typeface="Calibr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42062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236.686 observaciones · 22 features originales (26 tras enriquecimiento)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Rango temporal: 01-01-2025 a 31-12-2025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Fuente: Chicago Data Portal — Crimes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417320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300" b="1">
                <a:solidFill>
                  <a:srgbClr val="C00000"/>
                </a:solidFill>
                <a:latin typeface="Calibri"/>
              </a:rPr>
              <a:t>Problema de ML supervisado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737360"/>
            <a:ext cx="38404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400" b="1">
                <a:solidFill>
                  <a:srgbClr val="1F4E79"/>
                </a:solidFill>
                <a:latin typeface="Calibri"/>
              </a:rPr>
              <a:t>Clasificación binaria</a:t>
            </a:r>
          </a:p>
          <a:p>
            <a:pPr/>
            <a:r>
              <a:rPr sz="1200" b="0">
                <a:solidFill>
                  <a:srgbClr val="1F2937"/>
                </a:solidFill>
                <a:latin typeface="Calibri"/>
              </a:rPr>
              <a:t>Target: Arrest  (True / False)</a:t>
            </a:r>
          </a:p>
          <a:p>
            <a:pPr/>
            <a:r>
              <a:rPr sz="1100" b="0">
                <a:solidFill>
                  <a:srgbClr val="6B7280"/>
                </a:solidFill>
                <a:latin typeface="Calibri"/>
              </a:rPr>
              <a:t>Objetivo: predecir si un crimen deriva en arresto</a:t>
            </a:r>
          </a:p>
          <a:p>
            <a:pPr/>
            <a:r>
              <a:rPr sz="600" b="0">
                <a:solidFill>
                  <a:srgbClr val="1F2937"/>
                </a:solidFill>
                <a:latin typeface="Calibri"/>
              </a:rPr>
              <a:t/>
            </a:r>
          </a:p>
          <a:p>
            <a:pPr/>
            <a:r>
              <a:rPr sz="1200" b="1">
                <a:solidFill>
                  <a:srgbClr val="1F4E79"/>
                </a:solidFill>
                <a:latin typeface="Calibri"/>
              </a:rPr>
              <a:t>Baseline de clase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15,99 % positivos  (Arresto)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84,01 % negativos (sin Arresto)</a:t>
            </a:r>
          </a:p>
          <a:p>
            <a:pPr/>
            <a:r>
              <a:rPr sz="1100" b="1">
                <a:solidFill>
                  <a:srgbClr val="C00000"/>
                </a:solidFill>
                <a:latin typeface="Calibri"/>
              </a:rPr>
              <a:t>→ Problema desbalanceado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749039"/>
            <a:ext cx="3840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100" b="1">
                <a:solidFill>
                  <a:srgbClr val="C00000"/>
                </a:solidFill>
                <a:latin typeface="Calibri"/>
              </a:rPr>
              <a:t>Repositorio GitHub</a:t>
            </a:r>
          </a:p>
          <a:p>
            <a:pPr/>
            <a:r>
              <a:rPr sz="1000" b="0">
                <a:solidFill>
                  <a:srgbClr val="1F4E79"/>
                </a:solidFill>
                <a:latin typeface="Calibri"/>
              </a:rPr>
              <a:t>&lt;COMPLETAR: https://github.com/&lt;org&gt;/&lt;repo&gt;&gt;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900" b="0">
                <a:solidFill>
                  <a:srgbClr val="6B7280"/>
                </a:solidFill>
                <a:latin typeface="Calibri"/>
              </a:rPr>
              <a:t>Grupo 6 — Crímenes Chicago 2025  ·  1/5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2600" b="1">
                <a:solidFill>
                  <a:srgbClr val="1F4E79"/>
                </a:solidFill>
                <a:latin typeface="Calibri"/>
              </a:rPr>
              <a:t>EDA — Patrones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0">
                <a:solidFill>
                  <a:srgbClr val="6B7280"/>
                </a:solidFill>
                <a:latin typeface="Calibri"/>
              </a:rPr>
              <a:t>Concentración de crímenes por tipo, zona y momento del año</a:t>
            </a:r>
          </a:p>
        </p:txBody>
      </p:sp>
      <p:pic>
        <p:nvPicPr>
          <p:cNvPr id="5" name="Picture 4" descr="fig_top_cr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0"/>
            <a:ext cx="4343400" cy="2508564"/>
          </a:xfrm>
          <a:prstGeom prst="rect">
            <a:avLst/>
          </a:prstGeom>
        </p:spPr>
      </p:pic>
      <p:pic>
        <p:nvPicPr>
          <p:cNvPr id="6" name="Picture 5" descr="fig_top_are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4343400" cy="2500854"/>
          </a:xfrm>
          <a:prstGeom prst="rect">
            <a:avLst/>
          </a:prstGeom>
        </p:spPr>
      </p:pic>
      <p:pic>
        <p:nvPicPr>
          <p:cNvPr id="7" name="Picture 6" descr="fig_tempo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246120"/>
            <a:ext cx="5943600" cy="16235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3246120"/>
            <a:ext cx="260604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100" b="1">
                <a:solidFill>
                  <a:srgbClr val="C00000"/>
                </a:solidFill>
                <a:latin typeface="Calibri"/>
              </a:rPr>
              <a:t>Insights clave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THEFT + BATTERY = ~40% del total.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Austin y Near North Side lideran.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Pico: julio · viernes · medianoche.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41,8 % Index I (crímenes serios).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Domésticos: 19,1 % del dataset.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900" b="0">
                <a:solidFill>
                  <a:srgbClr val="6B7280"/>
                </a:solidFill>
                <a:latin typeface="Calibri"/>
              </a:rPr>
              <a:t>Grupo 6 — Crímenes Chicago 2025  ·  2/5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2600" b="1">
                <a:solidFill>
                  <a:srgbClr val="1F4E79"/>
                </a:solidFill>
                <a:latin typeface="Calibri"/>
              </a:rPr>
              <a:t>Calidad de datos — Missings y outliers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0">
                <a:solidFill>
                  <a:srgbClr val="6B7280"/>
                </a:solidFill>
                <a:latin typeface="Calibri"/>
              </a:rPr>
              <a:t>Diagnóstico, tipología (MCAR/MAR/MNAR) y criterios de tratamiento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663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300" b="1">
                <a:solidFill>
                  <a:srgbClr val="C00000"/>
                </a:solidFill>
                <a:latin typeface="Calibri"/>
              </a:rPr>
              <a:t>Valores faltantes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466344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000" b="1">
                <a:solidFill>
                  <a:srgbClr val="1F2937"/>
                </a:solidFill>
                <a:latin typeface="Courier New"/>
              </a:rPr>
              <a:t>Variable                              n   %     Tipo</a:t>
            </a:r>
          </a:p>
          <a:p>
            <a:pPr/>
            <a:r>
              <a:rPr sz="1000" b="0">
                <a:solidFill>
                  <a:srgbClr val="1F2937"/>
                </a:solidFill>
                <a:latin typeface="Courier New"/>
              </a:rPr>
              <a:t>Coordenadas (X,Y,Lat,Lon)    91   0.04   MAR/MNAR</a:t>
            </a:r>
          </a:p>
          <a:p>
            <a:pPr/>
            <a:r>
              <a:rPr sz="1000" b="0">
                <a:solidFill>
                  <a:srgbClr val="1F2937"/>
                </a:solidFill>
                <a:latin typeface="Courier New"/>
              </a:rPr>
              <a:t>IUCR Primary/Secondary     10.397  4.39   MAR</a:t>
            </a:r>
          </a:p>
          <a:p>
            <a:pPr/>
            <a:r>
              <a:rPr sz="1000" b="0">
                <a:solidFill>
                  <a:srgbClr val="1F2937"/>
                </a:solidFill>
                <a:latin typeface="Courier New"/>
              </a:rPr>
              <a:t>Index Code                    10.397  4.39   MAR</a:t>
            </a:r>
          </a:p>
          <a:p>
            <a:pPr/>
            <a:r>
              <a:rPr sz="1000" b="0">
                <a:solidFill>
                  <a:srgbClr val="1F2937"/>
                </a:solidFill>
                <a:latin typeface="Courier New"/>
              </a:rPr>
              <a:t>Location Description         1.097   0.46   MCAR</a:t>
            </a:r>
          </a:p>
          <a:p>
            <a:pPr/>
            <a:r>
              <a:rPr sz="1000" b="0">
                <a:solidFill>
                  <a:srgbClr val="1F2937"/>
                </a:solidFill>
                <a:latin typeface="Courier New"/>
              </a:rPr>
              <a:t>Ward / Community Area          4    ~0     MCAR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466344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1">
                <a:solidFill>
                  <a:srgbClr val="C00000"/>
                </a:solidFill>
                <a:latin typeface="Calibri"/>
              </a:rPr>
              <a:t>Interpretación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Coordenadas faltan en crímenes no-geo (ID theft, harassment) → MAR/MNAR.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IUCR enrichment: nulos heredados del código principal → MAR.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Location Description sin patrón aparente → MCAR.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0972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300" b="1">
                <a:solidFill>
                  <a:srgbClr val="C00000"/>
                </a:solidFill>
                <a:latin typeface="Calibri"/>
              </a:rPr>
              <a:t>Outliers (IQR sobre train)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17320"/>
            <a:ext cx="36576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Longitude: 1.434 casos  (Q1−1.5·IQR / Q3+1.5·IQR)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X Coordinate: 1.430 casos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Resto de variables: ~0 outliers estadísticos</a:t>
            </a:r>
          </a:p>
          <a:p>
            <a:pPr/>
            <a:r>
              <a:rPr sz="600" b="0">
                <a:solidFill>
                  <a:srgbClr val="1F2937"/>
                </a:solidFill>
                <a:latin typeface="Calibri"/>
              </a:rPr>
              <a:t/>
            </a:r>
          </a:p>
          <a:p>
            <a:pPr/>
            <a:r>
              <a:rPr sz="1100" b="1">
                <a:solidFill>
                  <a:srgbClr val="1F4E79"/>
                </a:solidFill>
                <a:latin typeface="Calibri"/>
              </a:rPr>
              <a:t>Decisión: winsorización (no deleción).</a:t>
            </a:r>
          </a:p>
          <a:p>
            <a:pPr/>
            <a:r>
              <a:rPr sz="1000" b="0">
                <a:solidFill>
                  <a:srgbClr val="6B7280"/>
                </a:solidFill>
                <a:latin typeface="Calibri"/>
              </a:rPr>
              <a:t>Las zonas periféricas de Chicago son señales legítimas; eliminarlas sesgaría el análisis territorial.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3520440"/>
            <a:ext cx="365760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1">
                <a:solidFill>
                  <a:srgbClr val="C00000"/>
                </a:solidFill>
                <a:latin typeface="Calibri"/>
              </a:rPr>
              <a:t>Criterio general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Imputar en lugar de borrar; preservar la señal del missingness cuando es informativo.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Fit de transformaciones solo sobre train; aplicadas a test sin re-fit.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900" b="0">
                <a:solidFill>
                  <a:srgbClr val="6B7280"/>
                </a:solidFill>
                <a:latin typeface="Calibri"/>
              </a:rPr>
              <a:t>Grupo 6 — Crímenes Chicago 2025  ·  3/5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2600" b="1">
                <a:solidFill>
                  <a:srgbClr val="1F4E79"/>
                </a:solidFill>
                <a:latin typeface="Calibri"/>
              </a:rPr>
              <a:t>Preprocesamiento +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0">
                <a:solidFill>
                  <a:srgbClr val="6B7280"/>
                </a:solidFill>
                <a:latin typeface="Calibri"/>
              </a:rPr>
              <a:t>Split estratificado 80/20 · Imputación · Escalado · Encoding · SMOTE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300" b="1">
                <a:solidFill>
                  <a:srgbClr val="C00000"/>
                </a:solidFill>
                <a:latin typeface="Calibri"/>
              </a:rPr>
              <a:t>Pipeline aplicado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21208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Split: estratificado 80/20 → train 188.928 · test 47.233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Imputación: median (coords) · mode (códigos geo) · 'UNKNOWN' (texto categórico)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Outliers: winsorización por IQR sobre features continuas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Escalado: StandardScaler (base) · MinMaxScaler (para chi²)</a:t>
            </a:r>
          </a:p>
          <a:p>
            <a:pPr/>
            <a:r>
              <a:rPr sz="1100" b="1">
                <a:solidFill>
                  <a:srgbClr val="1F2937"/>
                </a:solidFill>
                <a:latin typeface="Calibri"/>
              </a:rPr>
              <a:t>• Encoding: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Bool → int  ·  OrdinalEncoder (Index Code)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OneHot: Primary Type, FBI Code, IUCR Primary, Location Desc. top-20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TargetEncoder smoothing=10: Beat, Community Area, Ward, IUCR Secondary</a:t>
            </a:r>
          </a:p>
          <a:p>
            <a:pPr/>
            <a:r>
              <a:rPr sz="1100" b="1">
                <a:solidFill>
                  <a:srgbClr val="1F2937"/>
                </a:solidFill>
                <a:latin typeface="Calibri"/>
              </a:rPr>
              <a:t>• Feature Engineering (31 → 139 features):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Temporales: hour, day_of_week, month, quarter, day_of_year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Cíclicas: hour_sin/cos, dow_sin/cos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Flags: is_weekend, is_night, is_violent, is_property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Zona: beat_crime_rate ·  Bins: time_of_day, lat_bin, lon_bin</a:t>
            </a:r>
          </a:p>
        </p:txBody>
      </p:sp>
      <p:pic>
        <p:nvPicPr>
          <p:cNvPr id="7" name="Picture 6" descr="fig_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143000"/>
            <a:ext cx="3246120" cy="1401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0" y="3657600"/>
            <a:ext cx="32461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1">
                <a:solidFill>
                  <a:srgbClr val="C00000"/>
                </a:solidFill>
                <a:latin typeface="Calibri"/>
              </a:rPr>
              <a:t>Balanceo con SMOTE (k=5)</a:t>
            </a:r>
          </a:p>
          <a:p>
            <a:pPr/>
            <a:r>
              <a:rPr sz="1000" b="0">
                <a:solidFill>
                  <a:srgbClr val="6B7280"/>
                </a:solidFill>
                <a:latin typeface="Calibri"/>
              </a:rPr>
              <a:t>Train balanceado al 50/50; test se conserva con la distribución real para evaluación fiel.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900" b="0">
                <a:solidFill>
                  <a:srgbClr val="6B7280"/>
                </a:solidFill>
                <a:latin typeface="Calibri"/>
              </a:rPr>
              <a:t>Grupo 6 — Crímenes Chicago 2025  ·  4/5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2600" b="1">
                <a:solidFill>
                  <a:srgbClr val="1F4E79"/>
                </a:solidFill>
                <a:latin typeface="Calibri"/>
              </a:rPr>
              <a:t>Selección de features · PCA ·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0">
                <a:solidFill>
                  <a:srgbClr val="6B7280"/>
                </a:solidFill>
                <a:latin typeface="Calibri"/>
              </a:rPr>
              <a:t>Reducción de dimensionalidad supervisada y no supervisada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300" b="1">
                <a:solidFill>
                  <a:srgbClr val="C00000"/>
                </a:solidFill>
                <a:latin typeface="Calibri"/>
              </a:rPr>
              <a:t>Selección por filtros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48463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VarianceThreshold (&lt; 0,01) → eliminó 55 features de baja varianza.</a:t>
            </a:r>
          </a:p>
          <a:p>
            <a:pPr/>
            <a:r>
              <a:rPr sz="1100" b="0">
                <a:solidFill>
                  <a:srgbClr val="1F2937"/>
                </a:solidFill>
                <a:latin typeface="Calibri"/>
              </a:rPr>
              <a:t>• SelectKBest con chi², f_classif y mutual_info_classif → consenso top-20.</a:t>
            </a:r>
          </a:p>
          <a:p>
            <a:pPr/>
            <a:r>
              <a:rPr sz="1100" b="1">
                <a:solidFill>
                  <a:srgbClr val="1F2937"/>
                </a:solidFill>
                <a:latin typeface="Calibri"/>
              </a:rPr>
              <a:t>• Features dominantes (consistentes en las 3 métricas):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IUCR Secondary / Primary (Narcotics)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is_property, is_violent  (flags de dominio)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Beat, Community Area  (señal territorial)</a:t>
            </a:r>
          </a:p>
          <a:p>
            <a:pPr lvl="1"/>
            <a:r>
              <a:rPr sz="1100" b="0">
                <a:solidFill>
                  <a:srgbClr val="1F2937"/>
                </a:solidFill>
                <a:latin typeface="Calibri"/>
              </a:rPr>
              <a:t>    − FBI Code variants</a:t>
            </a:r>
          </a:p>
          <a:p>
            <a:pPr/>
            <a:r>
              <a:rPr sz="1100" b="1">
                <a:solidFill>
                  <a:srgbClr val="1F4E79"/>
                </a:solidFill>
                <a:latin typeface="Calibri"/>
              </a:rPr>
              <a:t>→ El tipo de crimen y la zona capturan la mayor parte de la señal.</a:t>
            </a:r>
          </a:p>
        </p:txBody>
      </p:sp>
      <p:pic>
        <p:nvPicPr>
          <p:cNvPr id="7" name="Picture 6" descr="fig_pca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097280"/>
            <a:ext cx="3611880" cy="1894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49240" y="3246120"/>
            <a:ext cx="36118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100" b="1">
                <a:solidFill>
                  <a:srgbClr val="C00000"/>
                </a:solidFill>
                <a:latin typeface="Calibri"/>
              </a:rPr>
              <a:t>PCA (desde 136 features numéricas)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24 componentes explican el 95 % de la varianza.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PC1 geográfico · PC2 jerarquía locación · PC3-5 temporales.</a:t>
            </a:r>
          </a:p>
          <a:p>
            <a:pPr/>
            <a:r>
              <a:rPr sz="1000" b="0">
                <a:solidFill>
                  <a:srgbClr val="6B7280"/>
                </a:solidFill>
                <a:latin typeface="Calibri"/>
              </a:rPr>
              <a:t>• Trade-off: ↓ multicolinealidad / ↓ interpretabilidad.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94760"/>
            <a:ext cx="85953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1200" b="1">
                <a:solidFill>
                  <a:srgbClr val="C00000"/>
                </a:solidFill>
                <a:latin typeface="Calibri"/>
              </a:rPr>
              <a:t>Conclusiones y próximos pasos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Dataset limpio pero fuertemente desbalanceado → evaluar con F1 / ROC-AUC; usar class weights + SMOTE.</a:t>
            </a:r>
          </a:p>
          <a:p>
            <a:pPr/>
            <a:r>
              <a:rPr sz="1000" b="0">
                <a:solidFill>
                  <a:srgbClr val="1F2937"/>
                </a:solidFill>
                <a:latin typeface="Calibri"/>
              </a:rPr>
              <a:t>• Pipeline modular (imputación → encoding → escalado → selección / PCA) reproducible sobre train y test.</a:t>
            </a:r>
          </a:p>
          <a:p>
            <a:pPr/>
            <a:r>
              <a:rPr sz="1000" b="0">
                <a:solidFill>
                  <a:srgbClr val="1F4E79"/>
                </a:solidFill>
                <a:latin typeface="Calibri"/>
              </a:rPr>
              <a:t>• Código completo y notebooks: &lt;COMPLETAR: https://github.com/&lt;org&gt;/&lt;repo&gt;&gt;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/>
            <a:r>
              <a:rPr sz="900" b="0">
                <a:solidFill>
                  <a:srgbClr val="6B7280"/>
                </a:solidFill>
                <a:latin typeface="Calibri"/>
              </a:rPr>
              <a:t>Grupo 6 — Crímenes Chicago 2025  ·  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