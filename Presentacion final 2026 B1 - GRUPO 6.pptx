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800" b="1">
                <a:solidFill>
                  <a:srgbClr val="1F4E79"/>
                </a:solidFill>
                <a:latin typeface="Calibri"/>
              </a:rPr>
              <a:t>Análisis de Crímenes Reportados en Chicago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0">
                <a:solidFill>
                  <a:srgbClr val="6B7280"/>
                </a:solidFill>
                <a:latin typeface="Calibri"/>
              </a:rPr>
              <a:t>Grupo 6 — Análisis de Datos · CEIA · 1B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1">
                <a:solidFill>
                  <a:srgbClr val="C00000"/>
                </a:solidFill>
                <a:latin typeface="Calibri"/>
              </a:rPr>
              <a:t>Integrantes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420624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200" b="0">
                <a:solidFill>
                  <a:srgbClr val="1F2937"/>
                </a:solidFill>
                <a:latin typeface="Calibri"/>
              </a:rPr>
              <a:t>• Ayelén Calo (a2510)</a:t>
            </a:r>
          </a:p>
          <a:p>
            <a:pPr/>
            <a:r>
              <a:rPr sz="1200" b="0">
                <a:solidFill>
                  <a:srgbClr val="1F2937"/>
                </a:solidFill>
                <a:latin typeface="Calibri"/>
              </a:rPr>
              <a:t>• Agustín Daniel Ross (a2539)</a:t>
            </a:r>
          </a:p>
          <a:p>
            <a:pPr/>
            <a:r>
              <a:rPr sz="1200" b="0">
                <a:solidFill>
                  <a:srgbClr val="1F2937"/>
                </a:solidFill>
                <a:latin typeface="Calibri"/>
              </a:rPr>
              <a:t>• Francisco Valentín Meaca (a2530)</a:t>
            </a:r>
          </a:p>
          <a:p>
            <a:pPr/>
            <a:r>
              <a:rPr sz="1200" b="0">
                <a:solidFill>
                  <a:srgbClr val="1F2937"/>
                </a:solidFill>
                <a:latin typeface="Calibri"/>
              </a:rPr>
              <a:t>• Franco Marcelo Morero (a2533)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1">
                <a:solidFill>
                  <a:srgbClr val="C00000"/>
                </a:solidFill>
                <a:latin typeface="Calibri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420624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236.686 observaciones · 22 features originales (26 tras enriquecimiento)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Rango temporal: 01-01-2025 a 31-12-2025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Fuente: Chicago Data Portal — Crimes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41732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1">
                <a:solidFill>
                  <a:srgbClr val="C00000"/>
                </a:solidFill>
                <a:latin typeface="Calibri"/>
              </a:rPr>
              <a:t>Problema de ML supervisado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37360"/>
            <a:ext cx="384048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400" b="1">
                <a:solidFill>
                  <a:srgbClr val="1F4E79"/>
                </a:solidFill>
                <a:latin typeface="Calibri"/>
              </a:rPr>
              <a:t>Clasificación binaria</a:t>
            </a:r>
          </a:p>
          <a:p>
            <a:pPr/>
            <a:r>
              <a:rPr sz="1200" b="0">
                <a:solidFill>
                  <a:srgbClr val="1F2937"/>
                </a:solidFill>
                <a:latin typeface="Calibri"/>
              </a:rPr>
              <a:t>Target: Arrest  (True / False)</a:t>
            </a:r>
          </a:p>
          <a:p>
            <a:pPr/>
            <a:r>
              <a:rPr sz="1100" b="0">
                <a:solidFill>
                  <a:srgbClr val="6B7280"/>
                </a:solidFill>
                <a:latin typeface="Calibri"/>
              </a:rPr>
              <a:t>Objetivo: predecir si un crimen deriva en arresto</a:t>
            </a:r>
          </a:p>
          <a:p>
            <a:pPr/>
            <a:r>
              <a:rPr sz="600" b="0">
                <a:solidFill>
                  <a:srgbClr val="1F2937"/>
                </a:solidFill>
                <a:latin typeface="Calibri"/>
              </a:rPr>
              <a:t/>
            </a:r>
          </a:p>
          <a:p>
            <a:pPr/>
            <a:r>
              <a:rPr sz="1200" b="1">
                <a:solidFill>
                  <a:srgbClr val="1F4E79"/>
                </a:solidFill>
                <a:latin typeface="Calibri"/>
              </a:rPr>
              <a:t>Baseline de clase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15,99 % positivos  (Arresto)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84,01 % negativos (sin Arresto)</a:t>
            </a:r>
          </a:p>
          <a:p>
            <a:pPr/>
            <a:r>
              <a:rPr sz="1100" b="1">
                <a:solidFill>
                  <a:srgbClr val="C00000"/>
                </a:solidFill>
                <a:latin typeface="Calibri"/>
              </a:rPr>
              <a:t>→ Problema desbalanceado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749039"/>
            <a:ext cx="38404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100" b="1">
                <a:solidFill>
                  <a:srgbClr val="C00000"/>
                </a:solidFill>
                <a:latin typeface="Calibri"/>
              </a:rPr>
              <a:t>Repositorio GitHub</a:t>
            </a:r>
          </a:p>
          <a:p>
            <a:pPr/>
            <a:r>
              <a:rPr sz="1000" b="0">
                <a:solidFill>
                  <a:srgbClr val="1F4E79"/>
                </a:solidFill>
                <a:latin typeface="Calibri"/>
              </a:rPr>
              <a:t>https://github.com/francomor/ceia-analisis-de-datos-tp-final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900" b="0">
                <a:solidFill>
                  <a:srgbClr val="6B7280"/>
                </a:solidFill>
                <a:latin typeface="Calibri"/>
              </a:rPr>
              <a:t>Grupo 6 — Crímenes Chicago 2025  · 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600" b="1">
                <a:solidFill>
                  <a:srgbClr val="1F4E79"/>
                </a:solidFill>
                <a:latin typeface="Calibri"/>
              </a:rPr>
              <a:t>EDA — Patrones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200" b="0">
                <a:solidFill>
                  <a:srgbClr val="6B7280"/>
                </a:solidFill>
                <a:latin typeface="Calibri"/>
              </a:rPr>
              <a:t>Concentración de crímenes por tipo, zona y momento del año</a:t>
            </a:r>
          </a:p>
        </p:txBody>
      </p:sp>
      <p:pic>
        <p:nvPicPr>
          <p:cNvPr id="5" name="Picture 4" descr="fig_top_cr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4343400" cy="2496289"/>
          </a:xfrm>
          <a:prstGeom prst="rect">
            <a:avLst/>
          </a:prstGeom>
        </p:spPr>
      </p:pic>
      <p:pic>
        <p:nvPicPr>
          <p:cNvPr id="6" name="Picture 5" descr="fig_top_are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343400" cy="2492174"/>
          </a:xfrm>
          <a:prstGeom prst="rect">
            <a:avLst/>
          </a:prstGeom>
        </p:spPr>
      </p:pic>
      <p:pic>
        <p:nvPicPr>
          <p:cNvPr id="7" name="Picture 6" descr="fig_temp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246120"/>
            <a:ext cx="5943600" cy="16184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3246120"/>
            <a:ext cx="260604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100" b="1">
                <a:solidFill>
                  <a:srgbClr val="C00000"/>
                </a:solidFill>
                <a:latin typeface="Calibri"/>
              </a:rPr>
              <a:t>Insights clave</a:t>
            </a:r>
          </a:p>
          <a:p>
            <a:pPr/>
            <a:r>
              <a:rPr sz="1000" b="0">
                <a:solidFill>
                  <a:srgbClr val="1F2937"/>
                </a:solidFill>
                <a:latin typeface="Calibri"/>
              </a:rPr>
              <a:t>• THEFT + BATTERY = ~40% del total.</a:t>
            </a:r>
          </a:p>
          <a:p>
            <a:pPr/>
            <a:r>
              <a:rPr sz="1000" b="0">
                <a:solidFill>
                  <a:srgbClr val="1F2937"/>
                </a:solidFill>
                <a:latin typeface="Calibri"/>
              </a:rPr>
              <a:t>• Austin y Near North Side lideran.</a:t>
            </a:r>
          </a:p>
          <a:p>
            <a:pPr/>
            <a:r>
              <a:rPr sz="1000" b="0">
                <a:solidFill>
                  <a:srgbClr val="1F2937"/>
                </a:solidFill>
                <a:latin typeface="Calibri"/>
              </a:rPr>
              <a:t>• Pico: julio · viernes · medianoche.</a:t>
            </a:r>
          </a:p>
          <a:p>
            <a:pPr/>
            <a:r>
              <a:rPr sz="1000" b="0">
                <a:solidFill>
                  <a:srgbClr val="1F2937"/>
                </a:solidFill>
                <a:latin typeface="Calibri"/>
              </a:rPr>
              <a:t>• 41,8 % Index I (crímenes serios).</a:t>
            </a:r>
          </a:p>
          <a:p>
            <a:pPr/>
            <a:r>
              <a:rPr sz="1000" b="0">
                <a:solidFill>
                  <a:srgbClr val="1F2937"/>
                </a:solidFill>
                <a:latin typeface="Calibri"/>
              </a:rPr>
              <a:t>• Domésticos: 19,1 % del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900" b="0">
                <a:solidFill>
                  <a:srgbClr val="6B7280"/>
                </a:solidFill>
                <a:latin typeface="Calibri"/>
              </a:rPr>
              <a:t>Grupo 6 — Crímenes Chicago 2025  · 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600" b="1">
                <a:solidFill>
                  <a:srgbClr val="1F4E79"/>
                </a:solidFill>
                <a:latin typeface="Calibri"/>
              </a:rPr>
              <a:t>Calidad de datos — Missings y outliers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200" b="0">
                <a:solidFill>
                  <a:srgbClr val="6B7280"/>
                </a:solidFill>
                <a:latin typeface="Calibri"/>
              </a:rPr>
              <a:t>Diagnóstico, tipología (MCAR/MAR/MNAR) y criterios de tratamiento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663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1">
                <a:solidFill>
                  <a:srgbClr val="C00000"/>
                </a:solidFill>
                <a:latin typeface="Calibri"/>
              </a:rPr>
              <a:t>Valores faltantes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466344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000" b="1">
                <a:solidFill>
                  <a:srgbClr val="1F2937"/>
                </a:solidFill>
                <a:latin typeface="Courier New"/>
              </a:rPr>
              <a:t>Variable                         n      %     Tipo</a:t>
            </a:r>
          </a:p>
          <a:p>
            <a:pPr/>
            <a:r>
              <a:rPr sz="1000" b="0">
                <a:solidFill>
                  <a:srgbClr val="1F2937"/>
                </a:solidFill>
                <a:latin typeface="Courier New"/>
              </a:rPr>
              <a:t>IUCR Primary             10.397  4,34   MAR</a:t>
            </a:r>
          </a:p>
          <a:p>
            <a:pPr/>
            <a:r>
              <a:rPr sz="1000" b="0">
                <a:solidFill>
                  <a:srgbClr val="1F2937"/>
                </a:solidFill>
                <a:latin typeface="Courier New"/>
              </a:rPr>
              <a:t>Location Description      1.097  0,46   MAR</a:t>
            </a:r>
          </a:p>
          <a:p>
            <a:pPr/>
            <a:r>
              <a:rPr sz="1000" b="0">
                <a:solidFill>
                  <a:srgbClr val="1F2937"/>
                </a:solidFill>
                <a:latin typeface="Courier New"/>
              </a:rPr>
              <a:t>Latitude / Longitude         91  0,04   MAR</a:t>
            </a:r>
          </a:p>
          <a:p>
            <a:pPr/>
            <a:r>
              <a:rPr sz="1000" b="0">
                <a:solidFill>
                  <a:srgbClr val="1F2937"/>
                </a:solidFill>
                <a:latin typeface="Courier New"/>
              </a:rPr>
              <a:t>Community Area                3  ~0     MCAR</a:t>
            </a:r>
          </a:p>
          <a:p>
            <a:pPr/>
            <a:r>
              <a:rPr sz="1000" b="0">
                <a:solidFill>
                  <a:srgbClr val="1F2937"/>
                </a:solidFill>
                <a:latin typeface="Courier New"/>
              </a:rPr>
              <a:t>Ward                          1  ~0     MCAR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466344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200" b="1">
                <a:solidFill>
                  <a:srgbClr val="C00000"/>
                </a:solidFill>
                <a:latin typeface="Calibri"/>
              </a:rPr>
              <a:t>Interpretación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IUCR Primary: nulos por códigos ausentes en dataset de enriquecimiento → MAR.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Location Description: concentrada en DECEPTIVE PRACTICE (fraudes sin lugar físico) → MAR.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Lat/Lon: dependen del tipo de crimen y del arresto → MAR.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Community Area / Ward: ínfimo volumen, sin patrón → MCAR.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0972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1">
                <a:solidFill>
                  <a:srgbClr val="C00000"/>
                </a:solidFill>
                <a:latin typeface="Calibri"/>
              </a:rPr>
              <a:t>Outliers (IQR y 3σ)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17320"/>
            <a:ext cx="365760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Latitude: 0 outliers (IQR y 3σ).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Longitude: 1.802 (IQR) / 1.275 (3σ).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Ubicados en el lado oeste de Chicago.</a:t>
            </a:r>
          </a:p>
          <a:p>
            <a:pPr/>
            <a:r>
              <a:rPr sz="600" b="0">
                <a:solidFill>
                  <a:srgbClr val="1F2937"/>
                </a:solidFill>
                <a:latin typeface="Calibri"/>
              </a:rPr>
              <a:t/>
            </a:r>
          </a:p>
          <a:p>
            <a:pPr/>
            <a:r>
              <a:rPr sz="1100" b="1">
                <a:solidFill>
                  <a:srgbClr val="1F4E79"/>
                </a:solidFill>
                <a:latin typeface="Calibri"/>
              </a:rPr>
              <a:t>Decisión: conservar outliers.</a:t>
            </a:r>
          </a:p>
          <a:p>
            <a:pPr/>
            <a:r>
              <a:rPr sz="1000" b="0">
                <a:solidFill>
                  <a:srgbClr val="6B7280"/>
                </a:solidFill>
                <a:latin typeface="Calibri"/>
              </a:rPr>
              <a:t>Son zonas periféricas legítimas (no errores); eliminarlas sesgaría el análisis territorial.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520440"/>
            <a:ext cx="3657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200" b="1">
                <a:solidFill>
                  <a:srgbClr val="C00000"/>
                </a:solidFill>
                <a:latin typeface="Calibri"/>
              </a:rPr>
              <a:t>Criterio general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Imputar en lugar de borrar; preservar la señal cuando el missing es informativo.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Fit de transformaciones solo sobre train; aplicadas a test sin re-fit.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900" b="0">
                <a:solidFill>
                  <a:srgbClr val="6B7280"/>
                </a:solidFill>
                <a:latin typeface="Calibri"/>
              </a:rPr>
              <a:t>Grupo 6 — Crímenes Chicago 2025  · 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600" b="1">
                <a:solidFill>
                  <a:srgbClr val="1F4E79"/>
                </a:solidFill>
                <a:latin typeface="Calibri"/>
              </a:rPr>
              <a:t>Preprocesamiento +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200" b="0">
                <a:solidFill>
                  <a:srgbClr val="6B7280"/>
                </a:solidFill>
                <a:latin typeface="Calibri"/>
              </a:rPr>
              <a:t>Split estratificado 80/20 · Imputación · Escalado · Encoding · SMOTE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1">
                <a:solidFill>
                  <a:srgbClr val="C00000"/>
                </a:solidFill>
                <a:latin typeface="Calibri"/>
              </a:rPr>
              <a:t>Pipeline aplicado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21208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Split: estratificado 80/20 → train 188.754 · test 47.189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Imputación: mediana en Latitude / Longitude (91 filas, 0,04 %)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Outliers: conservados (zonas periféricas legítimas)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Escalado: StandardScaler sobre variables numéricas y target-encoded</a:t>
            </a:r>
          </a:p>
          <a:p>
            <a:pPr/>
            <a:r>
              <a:rPr sz="1100" b="1">
                <a:solidFill>
                  <a:srgbClr val="1F2937"/>
                </a:solidFill>
                <a:latin typeface="Calibri"/>
              </a:rPr>
              <a:t>• Encoding (10 → 14 → 68 features):</a:t>
            </a:r>
          </a:p>
          <a:p>
            <a:pPr lvl="1"/>
            <a:r>
              <a:rPr sz="1100" b="0">
                <a:solidFill>
                  <a:srgbClr val="1F2937"/>
                </a:solidFill>
                <a:latin typeface="Calibri"/>
              </a:rPr>
              <a:t>    − OneHot: Primary Type (31) · FBI Code (25)</a:t>
            </a:r>
          </a:p>
          <a:p>
            <a:pPr lvl="1"/>
            <a:r>
              <a:rPr sz="1100" b="0">
                <a:solidFill>
                  <a:srgbClr val="1F2937"/>
                </a:solidFill>
                <a:latin typeface="Calibri"/>
              </a:rPr>
              <a:t>    − TargetEncoder (smooth=10): Beat (274) · Community Area (77) · Ward (50)</a:t>
            </a:r>
          </a:p>
          <a:p>
            <a:pPr lvl="1"/>
            <a:r>
              <a:rPr sz="1100" b="0">
                <a:solidFill>
                  <a:srgbClr val="1F2937"/>
                </a:solidFill>
                <a:latin typeface="Calibri"/>
              </a:rPr>
              <a:t>    − FE temporal: hour, day_of_week, month, quarter, day_of_year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520440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200" b="1">
                <a:solidFill>
                  <a:srgbClr val="C00000"/>
                </a:solidFill>
                <a:latin typeface="Calibri"/>
              </a:rPr>
              <a:t>Features nuevas (notebook 3 · Agus)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94760"/>
            <a:ext cx="521208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000" b="0">
                <a:solidFill>
                  <a:srgbClr val="1F2937"/>
                </a:solidFill>
                <a:latin typeface="Calibri"/>
              </a:rPr>
              <a:t>• distancia_cbd — Haversine al Loop (r = −0,01)</a:t>
            </a:r>
          </a:p>
          <a:p>
            <a:pPr/>
            <a:r>
              <a:rPr sz="1000" b="0">
                <a:solidFill>
                  <a:srgbClr val="1F2937"/>
                </a:solidFill>
                <a:latin typeface="Calibri"/>
              </a:rPr>
              <a:t>• night_violent — is_night × is_violent (r = +0,02)</a:t>
            </a:r>
          </a:p>
          <a:p>
            <a:pPr/>
            <a:r>
              <a:rPr sz="1000" b="0">
                <a:solidFill>
                  <a:srgbClr val="1F2937"/>
                </a:solidFill>
                <a:latin typeface="Calibri"/>
              </a:rPr>
              <a:t>• beat_arrest_rate — tasa histórica por Beat con smoothing laplaciano</a:t>
            </a:r>
          </a:p>
          <a:p>
            <a:pPr/>
            <a:r>
              <a:rPr sz="1000" b="1">
                <a:solidFill>
                  <a:srgbClr val="1F4E79"/>
                </a:solidFill>
                <a:latin typeface="Calibri"/>
              </a:rPr>
              <a:t>  (solo train, r = +0,20 → la más informativa de las tres)</a:t>
            </a:r>
          </a:p>
        </p:txBody>
      </p:sp>
      <p:pic>
        <p:nvPicPr>
          <p:cNvPr id="9" name="Picture 8" descr="fig_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097280"/>
            <a:ext cx="3246120" cy="1399745"/>
          </a:xfrm>
          <a:prstGeom prst="rect">
            <a:avLst/>
          </a:prstGeom>
        </p:spPr>
      </p:pic>
      <p:pic>
        <p:nvPicPr>
          <p:cNvPr id="10" name="Picture 9" descr="fig_new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291840"/>
            <a:ext cx="3246120" cy="15004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0" y="4617720"/>
            <a:ext cx="3246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900" b="0">
                <a:solidFill>
                  <a:srgbClr val="6B7280"/>
                </a:solidFill>
                <a:latin typeface="Calibri"/>
              </a:rPr>
              <a:t>SMOTE k=5 solo en train · test con distribución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900" b="0">
                <a:solidFill>
                  <a:srgbClr val="6B7280"/>
                </a:solidFill>
                <a:latin typeface="Calibri"/>
              </a:rPr>
              <a:t>Grupo 6 — Crímenes Chicago 2025  · 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2600" b="1">
                <a:solidFill>
                  <a:srgbClr val="1F4E79"/>
                </a:solidFill>
                <a:latin typeface="Calibri"/>
              </a:rPr>
              <a:t>Selección de features · PCA ·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200" b="0">
                <a:solidFill>
                  <a:srgbClr val="6B7280"/>
                </a:solidFill>
                <a:latin typeface="Calibri"/>
              </a:rPr>
              <a:t>Reducción de dimensionalidad supervisada y no supervisada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300" b="1">
                <a:solidFill>
                  <a:srgbClr val="C00000"/>
                </a:solidFill>
                <a:latin typeface="Calibri"/>
              </a:rPr>
              <a:t>Selección por filtros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84632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Correlación Pearson/Spearman/Kendall → multicolinealidad temporal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  fuerte: month ↔ day_of_year (0,996), month ↔ quarter (0,97).</a:t>
            </a:r>
          </a:p>
          <a:p>
            <a:pPr/>
            <a:r>
              <a:rPr sz="1100" b="0">
                <a:solidFill>
                  <a:srgbClr val="1F2937"/>
                </a:solidFill>
                <a:latin typeface="Calibri"/>
              </a:rPr>
              <a:t>• SelectKBest(k=20) con mutual_info_classif (supervisado).</a:t>
            </a:r>
          </a:p>
          <a:p>
            <a:pPr/>
            <a:r>
              <a:rPr sz="1100" b="1">
                <a:solidFill>
                  <a:srgbClr val="1F2937"/>
                </a:solidFill>
                <a:latin typeface="Calibri"/>
              </a:rPr>
              <a:t>• Top features por información mutua con Arrest:</a:t>
            </a:r>
          </a:p>
          <a:p>
            <a:pPr lvl="1"/>
            <a:r>
              <a:rPr sz="1100" b="0">
                <a:solidFill>
                  <a:srgbClr val="1F2937"/>
                </a:solidFill>
                <a:latin typeface="Calibri"/>
              </a:rPr>
              <a:t>    − FBI Code_18 · Primary Type_NARCOTICS (0,05)</a:t>
            </a:r>
          </a:p>
          <a:p>
            <a:pPr lvl="1"/>
            <a:r>
              <a:rPr sz="1100" b="0">
                <a:solidFill>
                  <a:srgbClr val="1F2937"/>
                </a:solidFill>
                <a:latin typeface="Calibri"/>
              </a:rPr>
              <a:t>    − Latitude / Longitude (0,048)</a:t>
            </a:r>
          </a:p>
          <a:p>
            <a:pPr lvl="1"/>
            <a:r>
              <a:rPr sz="1100" b="0">
                <a:solidFill>
                  <a:srgbClr val="1F2937"/>
                </a:solidFill>
                <a:latin typeface="Calibri"/>
              </a:rPr>
              <a:t>    − Beat · Community Area · District (geografía)</a:t>
            </a:r>
          </a:p>
          <a:p>
            <a:pPr lvl="1"/>
            <a:r>
              <a:rPr sz="1100" b="0">
                <a:solidFill>
                  <a:srgbClr val="1F2937"/>
                </a:solidFill>
                <a:latin typeface="Calibri"/>
              </a:rPr>
              <a:t>    − FBI Code_15 · WEAPONS VIOLATION (0,02)</a:t>
            </a:r>
          </a:p>
          <a:p>
            <a:pPr/>
            <a:r>
              <a:rPr sz="1100" b="1">
                <a:solidFill>
                  <a:srgbClr val="1F4E79"/>
                </a:solidFill>
                <a:latin typeface="Calibri"/>
              </a:rPr>
              <a:t>→ Tipo de crimen + zona concentran la señal predictiva.</a:t>
            </a:r>
          </a:p>
        </p:txBody>
      </p:sp>
      <p:pic>
        <p:nvPicPr>
          <p:cNvPr id="7" name="Picture 6" descr="fig_pca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097280"/>
            <a:ext cx="3611880" cy="18822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49240" y="3246120"/>
            <a:ext cx="361188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100" b="1">
                <a:solidFill>
                  <a:srgbClr val="C00000"/>
                </a:solidFill>
                <a:latin typeface="Calibri"/>
              </a:rPr>
              <a:t>PCA (68 features numéricas)</a:t>
            </a:r>
          </a:p>
          <a:p>
            <a:pPr/>
            <a:r>
              <a:rPr sz="1000" b="0">
                <a:solidFill>
                  <a:srgbClr val="1F2937"/>
                </a:solidFill>
                <a:latin typeface="Calibri"/>
              </a:rPr>
              <a:t>• 11 componentes explican el 90 % de la varianza.</a:t>
            </a:r>
          </a:p>
          <a:p>
            <a:pPr/>
            <a:r>
              <a:rPr sz="1000" b="0">
                <a:solidFill>
                  <a:srgbClr val="1F2937"/>
                </a:solidFill>
                <a:latin typeface="Calibri"/>
              </a:rPr>
              <a:t>• PC1 temporal (month, day_of_year, quarter).</a:t>
            </a:r>
          </a:p>
          <a:p>
            <a:pPr/>
            <a:r>
              <a:rPr sz="1000" b="0">
                <a:solidFill>
                  <a:srgbClr val="1F2937"/>
                </a:solidFill>
                <a:latin typeface="Calibri"/>
              </a:rPr>
              <a:t>• PC2-3 geográfico (Community Area, Beat, Ward, Lat/Lon).</a:t>
            </a:r>
          </a:p>
          <a:p>
            <a:pPr/>
            <a:r>
              <a:rPr sz="1000" b="0">
                <a:solidFill>
                  <a:srgbClr val="1F2937"/>
                </a:solidFill>
                <a:latin typeface="Calibri"/>
              </a:rPr>
              <a:t>• PC4-5 ciclo semanal / horario.</a:t>
            </a:r>
          </a:p>
          <a:p>
            <a:pPr/>
            <a:r>
              <a:rPr sz="1000" b="0">
                <a:solidFill>
                  <a:srgbClr val="6B7280"/>
                </a:solidFill>
                <a:latin typeface="Calibri"/>
              </a:rPr>
              <a:t>• Trade-off: ↓ multicolinealidad / ↓ interpretabilidad.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85953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1200" b="1">
                <a:solidFill>
                  <a:srgbClr val="C00000"/>
                </a:solidFill>
                <a:latin typeface="Calibri"/>
              </a:rPr>
              <a:t>Conclusiones y próximos pasos</a:t>
            </a:r>
          </a:p>
          <a:p>
            <a:pPr/>
            <a:r>
              <a:rPr sz="1000" b="0">
                <a:solidFill>
                  <a:srgbClr val="1F2937"/>
                </a:solidFill>
                <a:latin typeface="Calibri"/>
              </a:rPr>
              <a:t>• Dataset limpio pero fuertemente desbalanceado → evaluar con F1 / ROC-AUC + class weights + SMOTE.</a:t>
            </a:r>
          </a:p>
          <a:p>
            <a:pPr/>
            <a:r>
              <a:rPr sz="1000" b="0">
                <a:solidFill>
                  <a:srgbClr val="1F2937"/>
                </a:solidFill>
                <a:latin typeface="Calibri"/>
              </a:rPr>
              <a:t>• Pipeline modular (imputación → encoding → escalado → balance → selección / PCA) reproducible sobre train y test.</a:t>
            </a:r>
          </a:p>
          <a:p>
            <a:pPr/>
            <a:r>
              <a:rPr sz="1000" b="0">
                <a:solidFill>
                  <a:srgbClr val="1F4E79"/>
                </a:solidFill>
                <a:latin typeface="Calibri"/>
              </a:rPr>
              <a:t>• Código completo y notebooks: https://github.com/francomor/ceia-analisis-de-datos-tp-final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/>
            <a:r>
              <a:rPr sz="900" b="0">
                <a:solidFill>
                  <a:srgbClr val="6B7280"/>
                </a:solidFill>
                <a:latin typeface="Calibri"/>
              </a:rPr>
              <a:t>Grupo 6 — Crímenes Chicago 2025  · 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